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4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026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-914400" y="-914400"/>
            <a:ext cx="4572000" cy="73152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1097280" y="914400"/>
            <a:ext cx="914400" cy="9144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111556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STOS TECHNOLOGICZNY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651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 — System Lotów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LotyAPI (.NET 8.0)  +  Frontend (React 18 / TypeScript)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96596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196596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320040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3484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443484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4"/>
          <p:cNvSpPr/>
          <p:nvPr/>
        </p:nvSpPr>
        <p:spPr>
          <a:xfrm>
            <a:off x="566928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0372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690372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Realizacja projektu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777240" y="126187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1352398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188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Zrealizowano wszystkie wymagania z opisu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80467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864" cy="14173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777240" y="2103120"/>
            <a:ext cx="411480" cy="41148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6" y="219364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057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funkcjonalności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468880"/>
            <a:ext cx="6858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Wyliczanie długości trasy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Kreowanie trasy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Przypięcie trasy do operacji lotniczych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804672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777240" y="3749040"/>
            <a:ext cx="411480" cy="41148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6" y="3839566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71600" y="3703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Użyto Claude Code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371600" y="41148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www ze zmienionymi opcjami w zakresie ładowania różnych formatów plików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Dodatkowo użyto wtyczki do Visual Studio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Wykorzystano modele: Sonnet 4.6 i Opus 4.6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systemu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Trójwarstwowa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architektura: SPA Frontend komunikujący się z REST API przez HTTP/JSON</a:t>
            </a:r>
            <a:endParaRPr lang="pl-PL" sz="1300" dirty="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" cy="3017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914400" y="178308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042" y="1893722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46888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5 (UI)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 (nawigacja)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(HTTP client)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 (bundler / dev server)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(testy jednostkowe)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34840" y="2788920"/>
            <a:ext cx="4572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4297680" y="2423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0" y="155448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0"/>
          <p:cNvSpPr/>
          <p:nvPr/>
        </p:nvSpPr>
        <p:spPr>
          <a:xfrm>
            <a:off x="5029200" y="1554480"/>
            <a:ext cx="54864" cy="301752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1"/>
          <p:cNvSpPr/>
          <p:nvPr/>
        </p:nvSpPr>
        <p:spPr>
          <a:xfrm>
            <a:off x="5394960" y="1783080"/>
            <a:ext cx="502920" cy="50292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602" y="1893722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350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94960" y="246888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8.0 Web API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 8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(baza danych)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 Authentication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FluentValidation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Serilog (logowanie)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— .NET 8.0 Web API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6" y="13706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ASP.NET Core 8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1600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Kontrolery REST API z globalnym filtrem [Authorize], konfiguracja JSON camelCase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4754880" y="109728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937760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286" y="1370686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 Core 8 + SQLite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0" y="1600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 z migracjami, DbContext z 8 encjami, automatyczne seedy numeratorów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242316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548640" y="242316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3"/>
          <p:cNvSpPr/>
          <p:nvPr/>
        </p:nvSpPr>
        <p:spPr>
          <a:xfrm>
            <a:off x="731520" y="2606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6" y="2696566"/>
            <a:ext cx="230429" cy="23042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 Authentication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8016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Refresh tokeny, walidacja issuer/audience, automatyczne czyszczenie wygasłych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42316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Shape 17"/>
          <p:cNvSpPr/>
          <p:nvPr/>
        </p:nvSpPr>
        <p:spPr>
          <a:xfrm>
            <a:off x="4754880" y="242316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18"/>
          <p:cNvSpPr/>
          <p:nvPr/>
        </p:nvSpPr>
        <p:spPr>
          <a:xfrm>
            <a:off x="4937760" y="2606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8286" y="2696566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86400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FluentValidation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8640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Automatyczna walidacja modeli wejściowych, zarejestrowane z assembly scanning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48640" y="374904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8" name="Shape 22"/>
          <p:cNvSpPr/>
          <p:nvPr/>
        </p:nvSpPr>
        <p:spPr>
          <a:xfrm>
            <a:off x="548640" y="374904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9" name="Shape 2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046" y="4022446"/>
            <a:ext cx="230429" cy="230429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801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Serilog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1280160" y="42519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Logowanie do konsoli i plików, rolling daily, request logging z czasem odpowiedzi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4754880" y="374904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4" name="Shape 27"/>
          <p:cNvSpPr/>
          <p:nvPr/>
        </p:nvSpPr>
        <p:spPr>
          <a:xfrm>
            <a:off x="4754880" y="374904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5" name="Shape 28"/>
          <p:cNvSpPr/>
          <p:nvPr/>
        </p:nvSpPr>
        <p:spPr>
          <a:xfrm>
            <a:off x="4937760" y="39319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8286" y="4022446"/>
            <a:ext cx="230429" cy="230429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48640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Headers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5486400" y="42519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X-Content-Type-Options, X-Frame-Options, Rate Limiting na endpointach logowania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— React 18 + TypeScript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" cy="13716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411480" cy="41148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6" y="150784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18 + 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Funkcyjne komponenty z Hooks, pełne typowanie TypeScript, Context API dla autentykacji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1887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937760" y="14173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286" y="1507846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 Design 5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Biblioteka UI: Table, Form, Modal, DatePicker, Select — spójny, profesjonalny interfejs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28346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548640" y="2834640"/>
            <a:ext cx="54864" cy="13716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3"/>
          <p:cNvSpPr/>
          <p:nvPr/>
        </p:nvSpPr>
        <p:spPr>
          <a:xfrm>
            <a:off x="731520" y="3063240"/>
            <a:ext cx="411480" cy="41148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6" y="3153766"/>
            <a:ext cx="230429" cy="23042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Vite 5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80160" y="33832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Błyskawiczny dev server z HMR, proxy do API, TypeScript out-of-the-box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8346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Shape 17"/>
          <p:cNvSpPr/>
          <p:nvPr/>
        </p:nvSpPr>
        <p:spPr>
          <a:xfrm>
            <a:off x="4754880" y="283464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18"/>
          <p:cNvSpPr/>
          <p:nvPr/>
        </p:nvSpPr>
        <p:spPr>
          <a:xfrm>
            <a:off x="4937760" y="30632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8286" y="3153766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8640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Axios + JWT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86400" y="33832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Interceptory: auto-dołączanie tokena, odświeżanie refresh token, obsługa 401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Struktura: 18 stron (pages), 9 komponentów, custom hooks, Context API, testy Vitest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Domena biznesowa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ewidencji operacji lotniczych helikopterów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" cy="9601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Planowane Operacje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Rejestracja, statusy (planowana → zatwierdzona → w realizacji → zamknięta), komentarze, historia zmian, autonumeracja OP-RRRR-NNN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804672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54864" cy="9601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Zlecenia na Lot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Formularze zlecenia z trasą lotu, przypisanie helikoptera i załogi, lądowiska, autonumeracja ZL-RRRR-NNN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804672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864" cy="9601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Administracja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160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Zarządzanie helikopterami, członkami załogi, lądowiskami, użytkownikami, słownikami (typy operacji, statusy)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Narzędzia i jakość kodu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" cy="32004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 — dokumentacja API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 — monitoring bazy danych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Serilog — structured logging do plików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— ochrona przed brute-force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Exception Handling middleware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— oddzielne polityki Dev / Prod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— hashowanie haseł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54864" cy="32004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parser — linting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Prettier — formatowanie kodu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— testy jednostkowe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Boundary — obsługa błędów UI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hooks (useDebounce, useSlippyMap)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Vite — unikanie problemów CORS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dayjs — obsługa dat i czasu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aude AI w projekcie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3000" b="1" dirty="0">
                <a:solidFill>
                  <a:srgbClr val="FFFFFF"/>
                </a:solidFill>
                <a:latin typeface="Trebuchet MS" pitchFamily="34" charset="0"/>
              </a:rPr>
              <a:t>Claude AI w projekcie Aero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776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94A3B8"/>
                </a:solidFill>
                <a:latin typeface="Calibri" pitchFamily="34" charset="0"/>
              </a:rPr>
              <a:t>Modele AI wspomagające twórczosć systemu ewidencji lotniczej</a:t>
            </a:r>
          </a:p>
        </p:txBody>
      </p:sp>
      <p:sp>
        <p:nvSpPr>
          <p:cNvPr id="10" name="StatBox1"/>
          <p:cNvSpPr/>
          <p:nvPr/>
        </p:nvSpPr>
        <p:spPr>
          <a:xfrm>
            <a:off x="548640" y="1143000"/>
            <a:ext cx="249048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pl-PL" sz="5600" b="1" dirty="0">
                <a:solidFill>
                  <a:srgbClr val="FFFFFF"/>
                </a:solidFill>
                <a:latin typeface="Trebuchet MS" pitchFamily="34" charset="0"/>
              </a:rPr>
              <a:t>2</a:t>
            </a:r>
          </a:p>
          <a:p>
            <a:pPr algn="ctr">
              <a:buNone/>
            </a:pPr>
            <a:r>
              <a:rPr lang="pl-PL" sz="1200" b="0" dirty="0">
                <a:solidFill>
                  <a:srgbClr val="CCFBF1"/>
                </a:solidFill>
                <a:latin typeface="Calibri" pitchFamily="34" charset="0"/>
              </a:rPr>
              <a:t>modele Claude AI</a:t>
            </a:r>
          </a:p>
        </p:txBody>
      </p:sp>
      <p:sp>
        <p:nvSpPr>
          <p:cNvPr id="11" name="StatBox2"/>
          <p:cNvSpPr/>
          <p:nvPr/>
        </p:nvSpPr>
        <p:spPr>
          <a:xfrm>
            <a:off x="3326760" y="1143000"/>
            <a:ext cx="249048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pl-PL" sz="5600" b="1" dirty="0">
                <a:solidFill>
                  <a:srgbClr val="FFFFFF"/>
                </a:solidFill>
                <a:latin typeface="Trebuchet MS" pitchFamily="34" charset="0"/>
              </a:rPr>
              <a:t>~95%</a:t>
            </a:r>
          </a:p>
          <a:p>
            <a:pPr algn="ctr">
              <a:buNone/>
            </a:pPr>
            <a:r>
              <a:rPr lang="pl-PL" sz="1200" b="0" dirty="0">
                <a:solidFill>
                  <a:srgbClr val="CCFBF1"/>
                </a:solidFill>
                <a:latin typeface="Calibri" pitchFamily="34" charset="0"/>
              </a:rPr>
              <a:t>kodu wygenerowanego przez AI</a:t>
            </a:r>
          </a:p>
        </p:txBody>
      </p:sp>
      <p:sp>
        <p:nvSpPr>
          <p:cNvPr id="12" name="StatBox3"/>
          <p:cNvSpPr/>
          <p:nvPr/>
        </p:nvSpPr>
        <p:spPr>
          <a:xfrm>
            <a:off x="6104880" y="1143000"/>
            <a:ext cx="249048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pl-PL" sz="5600" b="1" dirty="0">
                <a:solidFill>
                  <a:srgbClr val="FFFFFF"/>
                </a:solidFill>
                <a:latin typeface="Trebuchet MS" pitchFamily="34" charset="0"/>
              </a:rPr>
              <a:t>3</a:t>
            </a:r>
          </a:p>
          <a:p>
            <a:pPr algn="ctr">
              <a:buNone/>
            </a:pPr>
            <a:r>
              <a:rPr lang="pl-PL" sz="1200" b="0" dirty="0">
                <a:solidFill>
                  <a:srgbClr val="CCFBF1"/>
                </a:solidFill>
                <a:latin typeface="Calibri" pitchFamily="34" charset="0"/>
              </a:rPr>
              <a:t>narzędzia Claude</a:t>
            </a:r>
          </a:p>
        </p:txBody>
      </p:sp>
      <p:sp>
        <p:nvSpPr>
          <p:cNvPr id="20" name="Card1Bg"/>
          <p:cNvSpPr/>
          <p:nvPr/>
        </p:nvSpPr>
        <p:spPr>
          <a:xfrm>
            <a:off x="548640" y="2148840"/>
            <a:ext cx="2490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Card1Border"/>
          <p:cNvSpPr/>
          <p:nvPr/>
        </p:nvSpPr>
        <p:spPr>
          <a:xfrm>
            <a:off x="548640" y="2148840"/>
            <a:ext cx="54864" cy="2743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22" name="Card1Header"/>
          <p:cNvSpPr/>
          <p:nvPr/>
        </p:nvSpPr>
        <p:spPr>
          <a:xfrm>
            <a:off x="694800" y="2194560"/>
            <a:ext cx="2268000" cy="32004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pl-PL" sz="1400" b="1" dirty="0">
                <a:solidFill>
                  <a:srgbClr val="1E293B"/>
                </a:solidFill>
                <a:latin typeface="Trebuchet MS" pitchFamily="34" charset="0"/>
              </a:rPr>
              <a:t>Claude Code</a:t>
            </a:r>
          </a:p>
        </p:txBody>
      </p:sp>
      <p:sp>
        <p:nvSpPr>
          <p:cNvPr id="23" name="Card1Body"/>
          <p:cNvSpPr/>
          <p:nvPr/>
        </p:nvSpPr>
        <p:spPr>
          <a:xfrm>
            <a:off x="694800" y="2560320"/>
            <a:ext cx="2268000" cy="2240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pl-PL" sz="1100" dirty="0">
                <a:solidFill>
                  <a:srgbClr val="475569"/>
                </a:solidFill>
                <a:latin typeface="Calibri" pitchFamily="34" charset="0"/>
              </a:rPr>
              <a:t>Główne narzędzie dewelopmentu. Generowanie endpointów REST, komponentów React, konfiguracji EF Core, migracji bazy danych. Działa jako agent w terminalu — czyta, edytuje i tworzy pliki w pętli autonomicznie.</a:t>
            </a:r>
          </a:p>
          <a:p>
            <a:pPr marL="0" indent="0">
              <a:buNone/>
            </a:pPr>
            <a:r>
              <a:rPr lang="pl-PL" sz="900" dirty="0">
                <a:solidFill>
                  <a:srgbClr val="FFFFFF"/>
                </a:solidFill>
                <a:latin typeface="Calibri"/>
              </a:rPr>
              <a:t> </a:t>
            </a:r>
          </a:p>
          <a:p>
            <a:pPr marL="0" indent="0">
              <a:buNone/>
            </a:pPr>
            <a:r>
              <a:rPr lang="pl-PL" sz="1050" b="1" dirty="0">
                <a:solidFill>
                  <a:srgbClr val="0D9488"/>
                </a:solidFill>
                <a:latin typeface="Trebuchet MS" pitchFamily="34" charset="0"/>
              </a:rPr>
              <a:t>Model: claude-sonnet-4-6</a:t>
            </a:r>
          </a:p>
        </p:txBody>
      </p:sp>
      <p:sp>
        <p:nvSpPr>
          <p:cNvPr id="30" name="Card2Bg"/>
          <p:cNvSpPr/>
          <p:nvPr/>
        </p:nvSpPr>
        <p:spPr>
          <a:xfrm>
            <a:off x="3326760" y="2148840"/>
            <a:ext cx="2490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1" name="Card2Border"/>
          <p:cNvSpPr/>
          <p:nvPr/>
        </p:nvSpPr>
        <p:spPr>
          <a:xfrm>
            <a:off x="3326760" y="2148840"/>
            <a:ext cx="54864" cy="2743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32" name="Card2Header"/>
          <p:cNvSpPr/>
          <p:nvPr/>
        </p:nvSpPr>
        <p:spPr>
          <a:xfrm>
            <a:off x="3472920" y="2194560"/>
            <a:ext cx="2268000" cy="32004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pl-PL" sz="1400" b="1" dirty="0">
                <a:solidFill>
                  <a:srgbClr val="1E293B"/>
                </a:solidFill>
                <a:latin typeface="Trebuchet MS" pitchFamily="34" charset="0"/>
              </a:rPr>
              <a:t>Claude.ai (wersja www)</a:t>
            </a:r>
          </a:p>
        </p:txBody>
      </p:sp>
      <p:sp>
        <p:nvSpPr>
          <p:cNvPr id="33" name="Card2Body"/>
          <p:cNvSpPr/>
          <p:nvPr/>
        </p:nvSpPr>
        <p:spPr>
          <a:xfrm>
            <a:off x="3472920" y="2560320"/>
            <a:ext cx="2268000" cy="2240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pl-PL" sz="1100" dirty="0">
                <a:solidFill>
                  <a:srgbClr val="475569"/>
                </a:solidFill>
                <a:latin typeface="Calibri" pitchFamily="34" charset="0"/>
              </a:rPr>
              <a:t>Wersja przeglądarkowa z rozszerzonymi opcjami wczytywania plików (PDF, CSV, DOCX). Używana do analizy specyfikacji, generowania dokumentacji i konsultacji architektonicznych dotyczących systemu.</a:t>
            </a:r>
          </a:p>
          <a:p>
            <a:pPr marL="0" indent="0">
              <a:buNone/>
            </a:pPr>
            <a:r>
              <a:rPr lang="pl-PL" sz="900" dirty="0">
                <a:solidFill>
                  <a:srgbClr val="FFFFFF"/>
                </a:solidFill>
                <a:latin typeface="Calibri"/>
              </a:rPr>
              <a:t> </a:t>
            </a:r>
          </a:p>
          <a:p>
            <a:pPr marL="0" indent="0">
              <a:buNone/>
            </a:pPr>
            <a:r>
              <a:rPr lang="pl-PL" sz="1050" b="1" dirty="0">
                <a:solidFill>
                  <a:srgbClr val="0D9488"/>
                </a:solidFill>
                <a:latin typeface="Trebuchet MS" pitchFamily="34" charset="0"/>
              </a:rPr>
              <a:t>Model: claude-opus-4-6</a:t>
            </a:r>
          </a:p>
        </p:txBody>
      </p:sp>
      <p:sp>
        <p:nvSpPr>
          <p:cNvPr id="40" name="Card3Bg"/>
          <p:cNvSpPr/>
          <p:nvPr/>
        </p:nvSpPr>
        <p:spPr>
          <a:xfrm>
            <a:off x="6104880" y="2148840"/>
            <a:ext cx="2490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1" name="Card3Border"/>
          <p:cNvSpPr/>
          <p:nvPr/>
        </p:nvSpPr>
        <p:spPr>
          <a:xfrm>
            <a:off x="6104880" y="2148840"/>
            <a:ext cx="54864" cy="2743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42" name="Card3Header"/>
          <p:cNvSpPr/>
          <p:nvPr/>
        </p:nvSpPr>
        <p:spPr>
          <a:xfrm>
            <a:off x="6251040" y="2194560"/>
            <a:ext cx="2268000" cy="32004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pl-PL" sz="1400" b="1" dirty="0">
                <a:solidFill>
                  <a:srgbClr val="1E293B"/>
                </a:solidFill>
                <a:latin typeface="Trebuchet MS" pitchFamily="34" charset="0"/>
              </a:rPr>
              <a:t>VS Code Plugin</a:t>
            </a:r>
          </a:p>
        </p:txBody>
      </p:sp>
      <p:sp>
        <p:nvSpPr>
          <p:cNvPr id="43" name="Card3Body"/>
          <p:cNvSpPr/>
          <p:nvPr/>
        </p:nvSpPr>
        <p:spPr>
          <a:xfrm>
            <a:off x="6251040" y="2560320"/>
            <a:ext cx="2268000" cy="22402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pl-PL" sz="1100" dirty="0">
                <a:solidFill>
                  <a:srgbClr val="475569"/>
                </a:solidFill>
                <a:latin typeface="Calibri" pitchFamily="34" charset="0"/>
              </a:rPr>
              <a:t>Wtyczka Claude do Visual Studio Code — inline suggestions, chat z kontekstem otwartego pliku, refaktoryzacja zaznaczonego kodu i generowanie testów jednostkowych Vitest bezpośrednio w IDE.</a:t>
            </a:r>
          </a:p>
          <a:p>
            <a:pPr marL="0" indent="0">
              <a:buNone/>
            </a:pPr>
            <a:r>
              <a:rPr lang="pl-PL" sz="900" dirty="0">
                <a:solidFill>
                  <a:srgbClr val="FFFFFF"/>
                </a:solidFill>
                <a:latin typeface="Calibri"/>
              </a:rPr>
              <a:t> </a:t>
            </a:r>
          </a:p>
          <a:p>
            <a:pPr marL="0" indent="0">
              <a:buNone/>
            </a:pPr>
            <a:r>
              <a:rPr lang="pl-PL" sz="1050" b="1" dirty="0">
                <a:solidFill>
                  <a:srgbClr val="0D9488"/>
                </a:solidFill>
                <a:latin typeface="Trebuchet MS" pitchFamily="34" charset="0"/>
              </a:rPr>
              <a:t>Modele: Sonnet 4.6 + Opus 4.6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5486400" y="-914400"/>
            <a:ext cx="5486400" cy="73152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914400" y="1097280"/>
            <a:ext cx="731520" cy="7315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34" y="1258214"/>
            <a:ext cx="409651" cy="4096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914400" y="292608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Nowoczesny stos: .NET 8 + React 18 + TypeScript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Bezpieczeństwo: JWT + BCrypt + Rate Limiting + Security Headers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Jakość kodu: FluentValidation, ESLint, Prettier, testy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Logowanie i monitoring: Serilog + Health Checks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Gotowość produkcyjna: CORS Prod, HSTS, structured logging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686</Words>
  <Application>Microsoft Office PowerPoint</Application>
  <PresentationFormat>Pokaz na ekranie (16:9)</PresentationFormat>
  <Paragraphs>118</Paragraphs>
  <Slides>9</Slides>
  <Notes>8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3" baseType="lpstr">
      <vt:lpstr>Arial</vt:lpstr>
      <vt:lpstr>Calibri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Stos Technologiczny — Aero</dc:title>
  <dc:subject>PptxGenJS Presentation</dc:subject>
  <dc:creator>Aero Team</dc:creator>
  <cp:lastModifiedBy>Orda Wiesław</cp:lastModifiedBy>
  <cp:revision>4</cp:revision>
  <dcterms:created xsi:type="dcterms:W3CDTF">2026-04-01T10:34:15Z</dcterms:created>
  <dcterms:modified xsi:type="dcterms:W3CDTF">2026-04-03T09:04:26Z</dcterms:modified>
</cp:coreProperties>
</file>